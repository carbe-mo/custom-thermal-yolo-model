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/>
            </a:pPr>
            <a:r>
              <a:rPr dirty="0"/>
              <a:t>Hybrid Dilated </a:t>
            </a:r>
            <a:r>
              <a:rPr lang="en-US" dirty="0"/>
              <a:t>Lightweight </a:t>
            </a:r>
            <a:r>
              <a:rPr dirty="0"/>
              <a:t>ECA-YOLO for Thermal Object Detection</a:t>
            </a:r>
          </a:p>
          <a:p>
            <a:pPr algn="ctr">
              <a:defRPr sz="1800"/>
            </a:pPr>
            <a:r>
              <a:rPr dirty="0"/>
              <a:t>Satya Mohit</a:t>
            </a:r>
          </a:p>
          <a:p>
            <a:pPr algn="ctr">
              <a:defRPr sz="1600"/>
            </a:pPr>
            <a:r>
              <a:rPr dirty="0"/>
              <a:t>IEEE Sensors Journal Target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Goal: Lightweight object detection on thermal (LWIR) imagery</a:t>
            </a:r>
          </a:p>
          <a:p>
            <a:pPr>
              <a:spcAft>
                <a:spcPts val="600"/>
              </a:spcAft>
              <a:defRPr sz="1800"/>
            </a:pPr>
            <a:r>
              <a:t>• Dataset: 1,067 thermal images, 3,849 annotations, 4 classes</a:t>
            </a:r>
          </a:p>
          <a:p>
            <a:pPr>
              <a:spcAft>
                <a:spcPts val="600"/>
              </a:spcAft>
              <a:defRPr sz="1600"/>
            </a:pPr>
            <a:r>
              <a:t>    • Person (28.0%), Trolley (55.7%), Bag (9.2%), Unattended (7.1%)</a:t>
            </a:r>
          </a:p>
          <a:p>
            <a:pPr>
              <a:spcAft>
                <a:spcPts val="600"/>
              </a:spcAft>
              <a:defRPr sz="1800"/>
            </a:pPr>
            <a:r>
              <a:t>• Base model: YOLOv8n (3.01M parameters, 8.1 GFLOPs)</a:t>
            </a:r>
          </a:p>
          <a:p>
            <a:pPr>
              <a:spcAft>
                <a:spcPts val="600"/>
              </a:spcAft>
              <a:defRPr sz="1800"/>
            </a:pPr>
            <a:r>
              <a:t>• Two key modifications to the backbone:</a:t>
            </a:r>
          </a:p>
          <a:p>
            <a:pPr>
              <a:spcAft>
                <a:spcPts val="600"/>
              </a:spcAft>
              <a:defRPr sz="1600"/>
            </a:pPr>
            <a:r>
              <a:t>    • Dilated Convolutions (rate=2) in deeper C2f stages</a:t>
            </a:r>
          </a:p>
          <a:p>
            <a:pPr>
              <a:spcAft>
                <a:spcPts val="600"/>
              </a:spcAft>
              <a:defRPr sz="1600"/>
            </a:pPr>
            <a:r>
              <a:t>    • Efficient Channel Attention (ECA) in all C2f blocks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Thermal IR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Low contrast and no colour / texture information</a:t>
            </a:r>
          </a:p>
          <a:p>
            <a:pPr>
              <a:spcAft>
                <a:spcPts val="600"/>
              </a:spcAft>
              <a:defRPr sz="1800"/>
            </a:pPr>
            <a:r>
              <a:t>• Small, blurred objects with poor edge definition</a:t>
            </a:r>
          </a:p>
          <a:p>
            <a:pPr>
              <a:spcAft>
                <a:spcPts val="600"/>
              </a:spcAft>
              <a:defRPr sz="1800"/>
            </a:pPr>
            <a:r>
              <a:t>• Class ambiguity — bags &amp; unattended objects look similar</a:t>
            </a:r>
          </a:p>
          <a:p>
            <a:pPr>
              <a:spcAft>
                <a:spcPts val="600"/>
              </a:spcAft>
              <a:defRPr sz="1800"/>
            </a:pPr>
            <a:r>
              <a:t>• Limited labelled thermal datasets vs. RGB domain</a:t>
            </a:r>
          </a:p>
          <a:p>
            <a:pPr>
              <a:spcAft>
                <a:spcPts val="600"/>
              </a:spcAft>
              <a:defRPr sz="1800"/>
            </a:pPr>
            <a:r>
              <a:t>• Standard YOLO models designed for RGB, not thermal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Proposed Architecture — Hybrid Dilated ECA-YOLO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Backbone: 10 layers with two types of C2f blocks</a:t>
            </a:r>
          </a:p>
          <a:p>
            <a:pPr>
              <a:spcAft>
                <a:spcPts val="600"/>
              </a:spcAft>
              <a:defRPr sz="1600"/>
            </a:pPr>
            <a:r>
              <a:t>    • C2f_ECA (dense, d=1): early stages P2–P3 for fine details</a:t>
            </a:r>
          </a:p>
          <a:p>
            <a:pPr>
              <a:spcAft>
                <a:spcPts val="600"/>
              </a:spcAft>
              <a:defRPr sz="1600"/>
            </a:pPr>
            <a:r>
              <a:t>    • C2f_ECA_Dilated (d=2): deeper stages P4–P5 for larger receptive field</a:t>
            </a:r>
          </a:p>
          <a:p>
            <a:pPr>
              <a:spcAft>
                <a:spcPts val="600"/>
              </a:spcAft>
              <a:defRPr sz="1800"/>
            </a:pPr>
            <a:r>
              <a:t>• Dilated convolutions expand receptive field without adding parameters</a:t>
            </a:r>
          </a:p>
          <a:p>
            <a:pPr>
              <a:spcAft>
                <a:spcPts val="600"/>
              </a:spcAft>
              <a:defRPr sz="1800"/>
            </a:pPr>
            <a:r>
              <a:t>• ECA: lightweight channel attention (single 1D conv, k=3)</a:t>
            </a:r>
          </a:p>
          <a:p>
            <a:pPr>
              <a:spcAft>
                <a:spcPts val="600"/>
              </a:spcAft>
              <a:defRPr sz="1800"/>
            </a:pPr>
            <a:r>
              <a:t>• Detection head: Standard YOLOv8 PANet (unchanged)</a:t>
            </a:r>
          </a:p>
          <a:p>
            <a:pPr>
              <a:spcAft>
                <a:spcPts val="600"/>
              </a:spcAft>
              <a:defRPr sz="1800"/>
            </a:pPr>
            <a:r>
              <a:t>• Total: 3.01M params, 8.1 GFLOPs — same as baseline YOLOv8n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Ablation Study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Baseline YOLOv8n 100ep: mAP@50 = 85.50%, mAP@50-95 = 62.55%</a:t>
            </a:r>
          </a:p>
          <a:p>
            <a:pPr>
              <a:spcAft>
                <a:spcPts val="600"/>
              </a:spcAft>
              <a:defRPr sz="1600"/>
            </a:pPr>
            <a:r>
              <a:t>    • + ECA only: mAP@50 = 86.31% (+0.81)</a:t>
            </a:r>
          </a:p>
          <a:p>
            <a:pPr>
              <a:spcAft>
                <a:spcPts val="600"/>
              </a:spcAft>
              <a:defRPr sz="1600"/>
            </a:pPr>
            <a:r>
              <a:t>    • + Dilated only: mAP@50 = 86.02% (+0.52)</a:t>
            </a:r>
          </a:p>
          <a:p>
            <a:pPr>
              <a:spcAft>
                <a:spcPts val="600"/>
              </a:spcAft>
              <a:defRPr sz="1600"/>
            </a:pPr>
            <a:r>
              <a:t>    • + Dilated + ECA (Ours): mAP@50 = 87.89% (+2.39)</a:t>
            </a:r>
          </a:p>
          <a:p>
            <a:pPr>
              <a:spcAft>
                <a:spcPts val="600"/>
              </a:spcAft>
              <a:defRPr sz="1800"/>
            </a:pPr>
            <a:r>
              <a:t>• Cosine annealing LR scheduler used for all 100-epoch runs</a:t>
            </a:r>
          </a:p>
          <a:p>
            <a:pPr>
              <a:spcAft>
                <a:spcPts val="600"/>
              </a:spcAft>
              <a:defRPr sz="1800"/>
            </a:pPr>
            <a:r>
              <a:t>• Improvements are additive — both modules contribute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t>Detection Performance — Best Model (v30)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Precision: 87.22%  |  Recall: 83.38%</a:t>
            </a:r>
          </a:p>
          <a:p>
            <a:pPr>
              <a:spcAft>
                <a:spcPts val="600"/>
              </a:spcAft>
              <a:defRPr sz="1800"/>
            </a:pPr>
            <a:r>
              <a:t>• mAP@50: 87.89%  |  mAP@50-95: 64.73%</a:t>
            </a:r>
          </a:p>
          <a:p>
            <a:pPr>
              <a:spcAft>
                <a:spcPts val="600"/>
              </a:spcAft>
              <a:defRPr sz="1800"/>
            </a:pPr>
            <a:r>
              <a:t>• Per-class mAP@50 improvements over baseline:</a:t>
            </a:r>
          </a:p>
          <a:p>
            <a:pPr>
              <a:spcAft>
                <a:spcPts val="600"/>
              </a:spcAft>
              <a:defRPr sz="1600"/>
            </a:pPr>
            <a:r>
              <a:t>    • Person: 94.4% → 95.2%</a:t>
            </a:r>
          </a:p>
          <a:p>
            <a:pPr>
              <a:spcAft>
                <a:spcPts val="600"/>
              </a:spcAft>
              <a:defRPr sz="1600"/>
            </a:pPr>
            <a:r>
              <a:t>    • Trolley: 95.3% → 96.3%</a:t>
            </a:r>
          </a:p>
          <a:p>
            <a:pPr>
              <a:spcAft>
                <a:spcPts val="600"/>
              </a:spcAft>
              <a:defRPr sz="1600"/>
            </a:pPr>
            <a:r>
              <a:t>    • Bag: 74.5% → 80.3%  (+5.8 pp — largest gain)</a:t>
            </a:r>
          </a:p>
          <a:p>
            <a:pPr>
              <a:spcAft>
                <a:spcPts val="600"/>
              </a:spcAft>
              <a:defRPr sz="1600"/>
            </a:pPr>
            <a:r>
              <a:t>    • Unattended: 77.7% → 79.8%</a:t>
            </a:r>
          </a:p>
          <a:p>
            <a:pPr>
              <a:spcAft>
                <a:spcPts val="600"/>
              </a:spcAft>
              <a:defRPr sz="1800"/>
            </a:pPr>
            <a:r>
              <a:t>• Biggest gains on hardest classes (Bag, Unattended)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501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rPr dirty="0"/>
              <a:t>Cross-Hardware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7724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rPr dirty="0"/>
              <a:t>• Benchmarked on 5 platforms (FP16 on GPU, FP32 on CPU/ARM):</a:t>
            </a:r>
          </a:p>
          <a:p>
            <a:pPr>
              <a:spcAft>
                <a:spcPts val="600"/>
              </a:spcAft>
              <a:defRPr sz="1600"/>
            </a:pPr>
            <a:r>
              <a:rPr dirty="0"/>
              <a:t>    • NVIDIA A100 80GB: 3.90 </a:t>
            </a:r>
            <a:r>
              <a:rPr dirty="0" err="1"/>
              <a:t>ms</a:t>
            </a:r>
            <a:r>
              <a:rPr dirty="0"/>
              <a:t> E2E (256.5 FPS)</a:t>
            </a:r>
          </a:p>
          <a:p>
            <a:pPr>
              <a:spcAft>
                <a:spcPts val="600"/>
              </a:spcAft>
              <a:defRPr sz="1600"/>
            </a:pPr>
            <a:r>
              <a:rPr dirty="0"/>
              <a:t>    • RTX 4070 Laptop: 5.38 </a:t>
            </a:r>
            <a:r>
              <a:rPr dirty="0" err="1"/>
              <a:t>ms</a:t>
            </a:r>
            <a:r>
              <a:rPr dirty="0"/>
              <a:t> E2E</a:t>
            </a:r>
          </a:p>
          <a:p>
            <a:pPr>
              <a:spcAft>
                <a:spcPts val="600"/>
              </a:spcAft>
              <a:defRPr sz="1600"/>
            </a:pPr>
            <a:r>
              <a:rPr dirty="0"/>
              <a:t>    • AMD EPYC 9374F CPU: 27.93 </a:t>
            </a:r>
            <a:r>
              <a:rPr dirty="0" err="1"/>
              <a:t>ms</a:t>
            </a:r>
            <a:r>
              <a:rPr dirty="0"/>
              <a:t> E2E (35.8 FPS)</a:t>
            </a:r>
          </a:p>
          <a:p>
            <a:pPr>
              <a:spcAft>
                <a:spcPts val="600"/>
              </a:spcAft>
              <a:defRPr sz="1600"/>
            </a:pPr>
            <a:r>
              <a:rPr dirty="0"/>
              <a:t>    • Rock Pi 4C+ (RK3399 ARM): 1238 </a:t>
            </a:r>
            <a:r>
              <a:rPr dirty="0" err="1"/>
              <a:t>ms</a:t>
            </a:r>
            <a:r>
              <a:rPr dirty="0"/>
              <a:t> E2E</a:t>
            </a:r>
          </a:p>
          <a:p>
            <a:pPr>
              <a:spcAft>
                <a:spcPts val="600"/>
              </a:spcAft>
              <a:defRPr sz="1600"/>
            </a:pPr>
            <a:r>
              <a:rPr dirty="0"/>
              <a:t>    • Raspberry Pi 4B (Cortex-A72): 970 </a:t>
            </a:r>
            <a:r>
              <a:rPr dirty="0" err="1"/>
              <a:t>ms</a:t>
            </a:r>
            <a:r>
              <a:rPr dirty="0"/>
              <a:t> E2E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• Our model matches or beats YOLOv8n latency on all platforms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53594-A9E3-5E8E-C0E7-2BD7D9990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75" y="3009406"/>
            <a:ext cx="8672312" cy="3749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52853-2C63-7273-3884-6B576434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33C69A-1672-D9A8-BA45-491341A24CB6}"/>
              </a:ext>
            </a:extLst>
          </p:cNvPr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rPr lang="en-US" dirty="0"/>
              <a:t>Model Architecture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F06583-1A39-F548-5FC8-408C658B0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8155"/>
            <a:ext cx="9144000" cy="278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3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CC40-F29C-C9B6-EDBC-F3BBAA31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F22BE9-312F-B538-1472-FF85E814FB0B}"/>
              </a:ext>
            </a:extLst>
          </p:cNvPr>
          <p:cNvSpPr txBox="1"/>
          <p:nvPr/>
        </p:nvSpPr>
        <p:spPr>
          <a:xfrm>
            <a:off x="457200" y="13501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rPr lang="en-US" dirty="0"/>
              <a:t>Figures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03F1A-6CC6-6872-7BDD-4676ED5C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06" y="1290823"/>
            <a:ext cx="6132588" cy="42763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525A5A-8440-5CCE-B453-A62148A9E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86" y="1290823"/>
            <a:ext cx="6306325" cy="473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18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9F31-40BB-3F06-87E2-8BBA5505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16DFDE-51FB-335A-AA58-153CD4841916}"/>
              </a:ext>
            </a:extLst>
          </p:cNvPr>
          <p:cNvSpPr txBox="1"/>
          <p:nvPr/>
        </p:nvSpPr>
        <p:spPr>
          <a:xfrm>
            <a:off x="457200" y="13501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rPr lang="en-US" dirty="0"/>
              <a:t>Figures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2AF4C2-0FB7-4B52-EC8C-BCF9D09C0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06" y="1290823"/>
            <a:ext cx="6132588" cy="42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6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D4397-3472-3CF6-B2E8-1A4F6715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F43DF6-1F58-BA7C-FE68-C879AF75E78A}"/>
              </a:ext>
            </a:extLst>
          </p:cNvPr>
          <p:cNvSpPr txBox="1"/>
          <p:nvPr/>
        </p:nvSpPr>
        <p:spPr>
          <a:xfrm>
            <a:off x="457200" y="13501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/>
            </a:pPr>
            <a:r>
              <a:rPr lang="en-US" dirty="0"/>
              <a:t>Figures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07B38A-C534-3CE5-DF96-68236BA18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99" y="658230"/>
            <a:ext cx="4761569" cy="32856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8D33CC-DDD0-D277-23E4-711D3788F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483" y="3943847"/>
            <a:ext cx="6464821" cy="282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533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 Mohit</cp:lastModifiedBy>
  <cp:revision>8</cp:revision>
  <dcterms:created xsi:type="dcterms:W3CDTF">2013-01-27T09:14:16Z</dcterms:created>
  <dcterms:modified xsi:type="dcterms:W3CDTF">2026-09-11T16:28:13Z</dcterms:modified>
  <cp:category/>
</cp:coreProperties>
</file>